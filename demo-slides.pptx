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18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84DF"/>
                </a:solidFill>
                <a:latin typeface="Segoe UI"/>
              </a:rPr>
              <a:t>1 · USER &amp; JOB  ·  45″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63A54"/>
                </a:solidFill>
                <a:latin typeface="Segoe UI"/>
              </a:rPr>
              <a:t>Học sinh cần nắm nhanh cả bài — không chỉ 1 khái niệm rời rạc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60120" cy="40640"/>
          </a:xfrm>
          <a:prstGeom prst="rect">
            <a:avLst/>
          </a:prstGeom>
          <a:solidFill>
            <a:srgbClr val="5EB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23015" y="384048"/>
            <a:ext cx="457200" cy="457200"/>
          </a:xfrm>
          <a:prstGeom prst="ellipse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2184DF"/>
                </a:solidFill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6675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84DF"/>
                </a:solidFill>
                <a:latin typeface="Segoe UI"/>
              </a:rPr>
              <a:t>Job executor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34762"/>
                </a:solidFill>
                <a:latin typeface="Segoe UI"/>
              </a:rPr>
              <a:t>Học sinh VLearn đang tự ôn tập cùng AI Tutor ngay trên slide bài giảng PDF, trong buổi học in-class.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6675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84DF"/>
                </a:solidFill>
                <a:latin typeface="Segoe UI"/>
              </a:rPr>
              <a:t>Core JTBD — một câu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79776"/>
            <a:ext cx="6675120" cy="1051560"/>
          </a:xfrm>
          <a:prstGeom prst="rect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07792"/>
            <a:ext cx="6309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63A54"/>
                </a:solidFill>
                <a:latin typeface="Segoe UI"/>
              </a:rPr>
              <a:t>“Khi cần nắm nhanh toàn bộ một bài giảng dài trước khi ôn tập, tôi muốn AI Tutor tóm tắt đúng nội dung và chỉ rõ trang nguồn — thay vì phải tự lật từng trang để ghép lại.”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41648"/>
            <a:ext cx="6675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84DF"/>
                </a:solidFill>
                <a:latin typeface="Segoe UI"/>
              </a:rPr>
              <a:t>Bằng chứng thật (chatlog VLearn)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66751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184DF"/>
                </a:solidFill>
                <a:latin typeface="Segoe UI"/>
              </a:rPr>
              <a:t>•  </a:t>
            </a:r>
            <a:r>
              <a:rPr sz="1350" b="1">
                <a:solidFill>
                  <a:srgbClr val="234762"/>
                </a:solidFill>
                <a:latin typeface="Segoe UI"/>
              </a:rPr>
              <a:t>585 hội thoại · 1.261 turn · 369 học sinh</a:t>
            </a:r>
            <a:r>
              <a:rPr sz="1350" b="0">
                <a:solidFill>
                  <a:srgbClr val="234762"/>
                </a:solidFill>
                <a:latin typeface="Segoe UI"/>
              </a:rPr>
              <a:t>, 22–29/07/2026 (chat_history_anonymized_for_hackathon.csv).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184DF"/>
                </a:solidFill>
                <a:latin typeface="Segoe UI"/>
              </a:rPr>
              <a:t>•  </a:t>
            </a:r>
            <a:r>
              <a:rPr sz="1350" b="1">
                <a:solidFill>
                  <a:srgbClr val="234762"/>
                </a:solidFill>
                <a:latin typeface="Segoe UI"/>
              </a:rPr>
              <a:t>130/1.261 turn (10,5%)</a:t>
            </a:r>
            <a:r>
              <a:rPr sz="1350" b="0">
                <a:solidFill>
                  <a:srgbClr val="234762"/>
                </a:solidFill>
                <a:latin typeface="Segoe UI"/>
              </a:rPr>
              <a:t> là câu hỏi dạng “tóm tắt / toàn bộ bài / nội dung chính”.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1">
                <a:solidFill>
                  <a:srgbClr val="2184DF"/>
                </a:solidFill>
                <a:latin typeface="Segoe UI"/>
              </a:rPr>
              <a:t>•  </a:t>
            </a:r>
            <a:r>
              <a:rPr sz="1350" b="1">
                <a:solidFill>
                  <a:srgbClr val="234762"/>
                </a:solidFill>
                <a:latin typeface="Segoe UI"/>
              </a:rPr>
              <a:t>Trong 130 turn đó: 65,4% tutor trả lời KHÔNG có trích dẫn nguồn</a:t>
            </a:r>
            <a:r>
              <a:rPr sz="1350" b="0">
                <a:solidFill>
                  <a:srgbClr val="234762"/>
                </a:solidFill>
                <a:latin typeface="Segoe UI"/>
              </a:rPr>
              <a:t>, 60,8% là lời xin lỗi “không tìm thấy nội dung”.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481328"/>
            <a:ext cx="4069080" cy="1371600"/>
          </a:xfrm>
          <a:prstGeom prst="rect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1591056"/>
            <a:ext cx="37398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84DF"/>
                </a:solidFill>
                <a:latin typeface="Segoe UI"/>
              </a:rPr>
              <a:t>10,5%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2468880"/>
            <a:ext cx="3739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58097"/>
                </a:solidFill>
                <a:latin typeface="Segoe UI"/>
              </a:rPr>
              <a:t>lượt hỏi là câu hỏi tóm tắt / toàn bài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58097"/>
                </a:solidFill>
                <a:latin typeface="Segoe UI"/>
              </a:rPr>
              <a:t>(130 / 1.261 turn)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2999232"/>
            <a:ext cx="4069080" cy="1371600"/>
          </a:xfrm>
          <a:prstGeom prst="rect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3108960"/>
            <a:ext cx="37398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94C4C"/>
                </a:solidFill>
                <a:latin typeface="Segoe UI"/>
              </a:rPr>
              <a:t>65,4%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3986784"/>
            <a:ext cx="3739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58097"/>
                </a:solidFill>
                <a:latin typeface="Segoe UI"/>
              </a:rPr>
              <a:t>trong số đó bị trả lời KHÔNG có trích dẫn nguồn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58097"/>
                </a:solidFill>
                <a:latin typeface="Segoe UI"/>
              </a:rPr>
              <a:t>(85 / 130 turn)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4517136"/>
            <a:ext cx="4069080" cy="1371600"/>
          </a:xfrm>
          <a:prstGeom prst="rect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8392" y="4626864"/>
            <a:ext cx="37398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D94C4C"/>
                </a:solidFill>
                <a:latin typeface="Segoe UI"/>
              </a:rPr>
              <a:t>60,8%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5504688"/>
            <a:ext cx="3739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58097"/>
                </a:solidFill>
                <a:latin typeface="Segoe UI"/>
              </a:rPr>
              <a:t>là câu xin lỗi kiểu “không tìm thấy nội dung”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58097"/>
                </a:solidFill>
                <a:latin typeface="Segoe UI"/>
              </a:rPr>
              <a:t>(79 / 130 turn)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053328"/>
            <a:ext cx="11064240" cy="548640"/>
          </a:xfrm>
          <a:prstGeom prst="rect">
            <a:avLst/>
          </a:prstGeom>
          <a:solidFill>
            <a:srgbClr val="16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6153912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FFFFFF"/>
                </a:solidFill>
                <a:latin typeface="Segoe UI"/>
              </a:rPr>
              <a:t>Quote nguồn (turn T0122): “...mình không có quyền truy cập trực tiếp vào toàn bộ tệp tài liệu mà phải thông qua tìm kiếm từ khóa...”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18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84DF"/>
                </a:solidFill>
                <a:latin typeface="Segoe UI"/>
              </a:rPr>
              <a:t>2 · VÌ SAO CHỌN TÍNH NĂNG NÀY  ·  45″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63A54"/>
                </a:solidFill>
                <a:latin typeface="Segoe UI"/>
              </a:rPr>
              <a:t>3 hướng cân nhắc — chỉ 1 hướng chạm đúng pain đã đo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60120" cy="40640"/>
          </a:xfrm>
          <a:prstGeom prst="rect">
            <a:avLst/>
          </a:prstGeom>
          <a:solidFill>
            <a:srgbClr val="5EB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23015" y="384048"/>
            <a:ext cx="457200" cy="457200"/>
          </a:xfrm>
          <a:prstGeom prst="ellipse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2184DF"/>
                </a:solidFill>
              </a:rPr>
              <a:t>2/6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58097"/>
                </a:solidFill>
                <a:latin typeface="Segoe UI"/>
              </a:rPr>
              <a:t>Nguồn định hướng: tong-hop-feedback-ai-tutor.md §5–7 (feedback mentor + người dùng thật).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749039" cy="43434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21408"/>
            <a:ext cx="33467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234762"/>
                </a:solidFill>
                <a:latin typeface="Segoe UI"/>
              </a:rPr>
              <a:t>Multimodal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88920"/>
            <a:ext cx="33467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58097"/>
                </a:solidFill>
                <a:latin typeface="Segoe UI"/>
              </a:rPr>
              <a:t>Đọc chữ trong hình/sơ đồ trong slide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10128"/>
            <a:ext cx="33467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184DF"/>
                </a:solidFill>
                <a:latin typeface="Segoe UI"/>
              </a:rPr>
              <a:t>Giải quyết pain nào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02736"/>
            <a:ext cx="334670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34762"/>
                </a:solidFill>
                <a:latin typeface="Segoe UI"/>
              </a:rPr>
              <a:t>Slide có ảnh/sơ đồ chưa đọc được nội dung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709160"/>
            <a:ext cx="33467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4C4C"/>
                </a:solidFill>
                <a:latin typeface="Segoe UI"/>
              </a:rPr>
              <a:t>Loại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029200"/>
            <a:ext cx="33467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34762"/>
                </a:solidFill>
                <a:latin typeface="Segoe UI"/>
              </a:rPr>
              <a:t>Cần model đa phương thức mới + effort vượt quá 1,5 ngày hackathon.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920240"/>
            <a:ext cx="3749039" cy="43434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2121408"/>
            <a:ext cx="33467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234762"/>
                </a:solidFill>
                <a:latin typeface="Segoe UI"/>
              </a:rPr>
              <a:t>Gợi ý câu hỏi chủ động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788920"/>
            <a:ext cx="33467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58097"/>
                </a:solidFill>
                <a:latin typeface="Segoe UI"/>
              </a:rPr>
              <a:t>Sinh câu hỏi gợi ý theo ngữ cảnh học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310128"/>
            <a:ext cx="33467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184DF"/>
                </a:solidFill>
                <a:latin typeface="Segoe UI"/>
              </a:rPr>
              <a:t>Giải quyết pain nào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602736"/>
            <a:ext cx="334670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34762"/>
                </a:solidFill>
                <a:latin typeface="Segoe UI"/>
              </a:rPr>
              <a:t>Học sinh không biết nên hỏi tiếp gì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4709160"/>
            <a:ext cx="33467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4C4C"/>
                </a:solidFill>
                <a:latin typeface="Segoe UI"/>
              </a:rPr>
              <a:t>Loại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5029200"/>
            <a:ext cx="33467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34762"/>
                </a:solidFill>
                <a:latin typeface="Segoe UI"/>
              </a:rPr>
              <a:t>Không chạm vào 65,4% fail rate đã đo — chỉ là “nice to have”.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920240"/>
            <a:ext cx="3749039" cy="4343400"/>
          </a:xfrm>
          <a:prstGeom prst="rect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1920240"/>
            <a:ext cx="3749039" cy="64008"/>
          </a:xfrm>
          <a:prstGeom prst="rect">
            <a:avLst/>
          </a:prstGeom>
          <a:solidFill>
            <a:srgbClr val="218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3648" y="2121408"/>
            <a:ext cx="33467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163A54"/>
                </a:solidFill>
                <a:latin typeface="Segoe UI"/>
              </a:rPr>
              <a:t>✅ Sửa retrieval tóm tắt</a:t>
            </a:r>
          </a:p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163A54"/>
                </a:solidFill>
                <a:latin typeface="Segoe UI"/>
              </a:rPr>
              <a:t>(đã chọn &amp; build)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2788920"/>
            <a:ext cx="33467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58097"/>
                </a:solidFill>
                <a:latin typeface="Segoe UI"/>
              </a:rPr>
              <a:t>Tóm tắt xuyên trang, xuyên Anh–Việt, hiểu diễn đạt khác nhau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3310128"/>
            <a:ext cx="33467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184DF"/>
                </a:solidFill>
                <a:latin typeface="Segoe UI"/>
              </a:rPr>
              <a:t>Giải quyết pain nào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3602736"/>
            <a:ext cx="334670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34762"/>
                </a:solidFill>
                <a:latin typeface="Segoe UI"/>
              </a:rPr>
              <a:t>65,4% turn “tóm tắt” bị fail — do retrieval, không phải do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4709160"/>
            <a:ext cx="33467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AB27B"/>
                </a:solidFill>
                <a:latin typeface="Segoe UI"/>
              </a:rPr>
              <a:t>Chọn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5029200"/>
            <a:ext cx="33467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34762"/>
                </a:solidFill>
                <a:latin typeface="Segoe UI"/>
              </a:rPr>
              <a:t>Đúng nguyên nhân gốc đã đo được, sửa trong pipeline sẵn có, không cần thêm API/model.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18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84DF"/>
                </a:solidFill>
                <a:latin typeface="Segoe UI"/>
              </a:rPr>
              <a:t>3 · GIẢI PHÁP &amp; DEMO LIVE  ·  2′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63A54"/>
                </a:solidFill>
                <a:latin typeface="Segoe UI"/>
              </a:rPr>
              <a:t>Bằng chứng phải trải đều toàn bộ tài liệu — không chỉ 6 trang đầu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60120" cy="40640"/>
          </a:xfrm>
          <a:prstGeom prst="rect">
            <a:avLst/>
          </a:prstGeom>
          <a:solidFill>
            <a:srgbClr val="5EB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23015" y="384048"/>
            <a:ext cx="457200" cy="457200"/>
          </a:xfrm>
          <a:prstGeom prst="ellipse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2184DF"/>
                </a:solidFill>
              </a:rPr>
              <a:t>3/6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64240" cy="777240"/>
          </a:xfrm>
          <a:prstGeom prst="rect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106984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63A54"/>
                </a:solidFill>
                <a:latin typeface="Segoe UI"/>
              </a:rPr>
              <a:t>Lát cắt: dù học sinh hỏi “tóm tắt”, “nội dung chính”, hay “what's the main content” — AI Tutor phải lấy bằng chứng trải đều toàn tài liệu, không chỉ N trang đầu tiên gặp phải.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6949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84DF"/>
                </a:solidFill>
                <a:latin typeface="Segoe UI"/>
              </a:rPr>
              <a:t>4 lỗi đã sửa trong pipeline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69494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2184DF"/>
                </a:solidFill>
                <a:latin typeface="Segoe UI"/>
              </a:rPr>
              <a:t>•  </a:t>
            </a:r>
            <a:r>
              <a:rPr sz="1250" b="1">
                <a:solidFill>
                  <a:srgbClr val="234762"/>
                </a:solidFill>
                <a:latin typeface="Segoe UI"/>
              </a:rPr>
              <a:t>Bộ lọc từ đệm nuốt mất cụm “nội dung”</a:t>
            </a:r>
            <a:r>
              <a:rPr sz="1250" b="0">
                <a:solidFill>
                  <a:srgbClr val="234762"/>
                </a:solidFill>
                <a:latin typeface="Segoe UI"/>
              </a:rPr>
              <a:t> → phá vỡ nhận diện ý định tóm tắt (text.ts).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2184DF"/>
                </a:solidFill>
                <a:latin typeface="Segoe UI"/>
              </a:rPr>
              <a:t>•  </a:t>
            </a:r>
            <a:r>
              <a:rPr sz="1250" b="1">
                <a:solidFill>
                  <a:srgbClr val="234762"/>
                </a:solidFill>
                <a:latin typeface="Segoe UI"/>
              </a:rPr>
              <a:t>Evidence giới hạn cứng 6 trang, lấy theo thứ tự xuất hiện</a:t>
            </a:r>
            <a:r>
              <a:rPr sz="1250" b="0">
                <a:solidFill>
                  <a:srgbClr val="234762"/>
                </a:solidFill>
                <a:latin typeface="Segoe UI"/>
              </a:rPr>
              <a:t> → tài liệu dài chỉ thấy vài trang đầu (indexing.ts).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2184DF"/>
                </a:solidFill>
                <a:latin typeface="Segoe UI"/>
              </a:rPr>
              <a:t>•  </a:t>
            </a:r>
            <a:r>
              <a:rPr sz="1250" b="1">
                <a:solidFill>
                  <a:srgbClr val="234762"/>
                </a:solidFill>
                <a:latin typeface="Segoe UI"/>
              </a:rPr>
              <a:t>Không khớp từ khóa → trả lời “không đủ dữ liệu” ngay ở client</a:t>
            </a:r>
            <a:r>
              <a:rPr sz="1250" b="0">
                <a:solidFill>
                  <a:srgbClr val="234762"/>
                </a:solidFill>
                <a:latin typeface="Segoe UI"/>
              </a:rPr>
              <a:t>, LLM chưa từng được hỏi (tutorApi.ts).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2184DF"/>
                </a:solidFill>
                <a:latin typeface="Segoe UI"/>
              </a:rPr>
              <a:t>•  </a:t>
            </a:r>
            <a:r>
              <a:rPr sz="1250" b="1">
                <a:solidFill>
                  <a:srgbClr val="234762"/>
                </a:solidFill>
                <a:latin typeface="Segoe UI"/>
              </a:rPr>
              <a:t>Từ điển đồng nghĩa Anh–Việt còn hẹp</a:t>
            </a:r>
            <a:r>
              <a:rPr sz="1250" b="0">
                <a:solidFill>
                  <a:srgbClr val="234762"/>
                </a:solidFill>
                <a:latin typeface="Segoe UI"/>
              </a:rPr>
              <a:t> → mở rộng thêm ~13 nhóm thuật ngữ học thuật.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9572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84DF"/>
                </a:solidFill>
                <a:latin typeface="Segoe UI"/>
              </a:rPr>
              <a:t>Demo trực tiếp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743200"/>
            <a:ext cx="3840480" cy="141732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85292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AB27B"/>
                </a:solidFill>
                <a:latin typeface="Segoe UI"/>
              </a:rPr>
              <a:t>Case chuẩn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145536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34762"/>
                </a:solidFill>
                <a:latin typeface="Segoe UI"/>
              </a:rPr>
              <a:t>“Trang 3 nói về gì?”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34762"/>
                </a:solidFill>
                <a:latin typeface="Segoe UI"/>
              </a:rPr>
              <a:t>→ trả lời đúng trang, có trích dẫn.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297680"/>
            <a:ext cx="3840480" cy="1737360"/>
          </a:xfrm>
          <a:prstGeom prst="rect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40740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94C4C"/>
                </a:solidFill>
                <a:latin typeface="Segoe UI"/>
              </a:rPr>
              <a:t>Case khó (điểm được đánh giá cao)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00016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34762"/>
                </a:solidFill>
                <a:latin typeface="Segoe UI"/>
              </a:rPr>
              <a:t>“Nội dung chính của bài là gì?” trên tài liệu nhiều trang.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34762"/>
                </a:solidFill>
                <a:latin typeface="Segoe UI"/>
              </a:rPr>
              <a:t>Trước: “chưa đủ dữ liệu” (chỉ thấy 6 trang đầu).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34762"/>
                </a:solidFill>
                <a:latin typeface="Segoe UI"/>
              </a:rPr>
              <a:t>Sau: tóm tắt trải đều toàn bộ tài liệu.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58097"/>
                </a:solidFill>
                <a:latin typeface="Segoe UI"/>
              </a:rPr>
              <a:t>Automation cost-of-error: trả lời “không đủ dữ liệu” sai (dù tài liệu có) khiến học sinh mất niềm tin và tự làm lại việc AI lẽ ra phải làm.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18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84DF"/>
                </a:solidFill>
                <a:latin typeface="Segoe UI"/>
              </a:rPr>
              <a:t>4 · KẾT QUẢ ĐO  ·  45″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63A54"/>
                </a:solidFill>
                <a:latin typeface="Segoe UI"/>
              </a:rPr>
              <a:t>Golden set nội bộ đạt bar — đo trên chatlog thật là bước tiếp theo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60120" cy="40640"/>
          </a:xfrm>
          <a:prstGeom prst="rect">
            <a:avLst/>
          </a:prstGeom>
          <a:solidFill>
            <a:srgbClr val="5EB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23015" y="384048"/>
            <a:ext cx="457200" cy="457200"/>
          </a:xfrm>
          <a:prstGeom prst="ellipse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2184DF"/>
                </a:solidFill>
              </a:rPr>
              <a:t>4/6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520440" cy="1417320"/>
          </a:xfrm>
          <a:prstGeom prst="rect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19125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AB27B"/>
                </a:solidFill>
                <a:latin typeface="Segoe UI"/>
              </a:rPr>
              <a:t>15/15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42032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58097"/>
                </a:solidFill>
                <a:latin typeface="Segoe UI"/>
              </a:rPr>
              <a:t>test case golden set pass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58097"/>
                </a:solidFill>
                <a:latin typeface="Segoe UI"/>
              </a:rPr>
              <a:t>(src/rag/rag.test.ts)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508760"/>
            <a:ext cx="3520440" cy="1417320"/>
          </a:xfrm>
          <a:prstGeom prst="rect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618488"/>
            <a:ext cx="319125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AB27B"/>
                </a:solidFill>
                <a:latin typeface="Segoe UI"/>
              </a:rPr>
              <a:t>40/40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542032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58097"/>
                </a:solidFill>
                <a:latin typeface="Segoe UI"/>
              </a:rPr>
              <a:t>toàn bộ test suite dự án pass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58097"/>
                </a:solidFill>
                <a:latin typeface="Segoe UI"/>
              </a:rPr>
              <a:t>sau khi sửa (vitest run)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508760"/>
            <a:ext cx="3657600" cy="1417320"/>
          </a:xfrm>
          <a:prstGeom prst="rect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1618488"/>
            <a:ext cx="332841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84DF"/>
                </a:solidFill>
                <a:latin typeface="Segoe UI"/>
              </a:rPr>
              <a:t>0 →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2542032"/>
            <a:ext cx="3328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58097"/>
                </a:solidFill>
                <a:latin typeface="Segoe UI"/>
              </a:rPr>
              <a:t>số trang được xét cho câu hỏi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58097"/>
                </a:solidFill>
                <a:latin typeface="Segoe UI"/>
              </a:rPr>
              <a:t>tóm tắt (trước → sau, giới hạn cứng cũ là 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84DF"/>
                </a:solidFill>
                <a:latin typeface="Segoe UI"/>
              </a:rPr>
              <a:t>Quality bar đã cam kết &amp; quá trình đạt được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47872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2184DF"/>
                </a:solidFill>
                <a:latin typeface="Segoe UI"/>
              </a:rPr>
              <a:t>•  </a:t>
            </a:r>
            <a:r>
              <a:rPr sz="1300" b="1">
                <a:solidFill>
                  <a:srgbClr val="234762"/>
                </a:solidFill>
                <a:latin typeface="Segoe UI"/>
              </a:rPr>
              <a:t>Test hồi quy mới (tài liệu giả lập 24 trang):</a:t>
            </a:r>
            <a:r>
              <a:rPr sz="1300" b="0">
                <a:solidFill>
                  <a:srgbClr val="234762"/>
                </a:solidFill>
                <a:latin typeface="Segoe UI"/>
              </a:rPr>
              <a:t> câu hỏi tóm tắt phải trả về bằng chứng phủ tới tận trang 24, không chỉ 6 trang đầu.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2184DF"/>
                </a:solidFill>
                <a:latin typeface="Segoe UI"/>
              </a:rPr>
              <a:t>•  </a:t>
            </a:r>
            <a:r>
              <a:rPr sz="1300" b="1">
                <a:solidFill>
                  <a:srgbClr val="234762"/>
                </a:solidFill>
                <a:latin typeface="Segoe UI"/>
              </a:rPr>
              <a:t>Ghi nhận trung thực quá trình sửa:</a:t>
            </a:r>
            <a:r>
              <a:rPr sz="1300" b="0">
                <a:solidFill>
                  <a:srgbClr val="234762"/>
                </a:solidFill>
                <a:latin typeface="Segoe UI"/>
              </a:rPr>
              <a:t> lần chạy đầu fail ở “0 trang trả về” (lỗi lọc từ đệm), lần chạy thứ hai fail ở “chỉ 6/24 trang” (giới hạn cứng) — sửa xong cả hai mới đạt bar.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74920"/>
            <a:ext cx="11064240" cy="1234440"/>
          </a:xfrm>
          <a:prstGeom prst="rect">
            <a:avLst/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193792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07A12"/>
                </a:solidFill>
                <a:latin typeface="Segoe UI"/>
              </a:rPr>
              <a:t>Chưa đạt — cần đo tiếp (không giấu)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0468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34762"/>
                </a:solidFill>
                <a:latin typeface="Segoe UI"/>
              </a:rPr>
              <a:t>Chưa chạy lại 130 câu hỏi “tóm tắt” thật từ chatlog sản xuất qua pipeline mới để đo % cải thiện thực tế so với mốc 65,4% fail rate gốc — đây là việc đo tiếp theo, không phải con số đẹp đã có sẵn.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18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84DF"/>
                </a:solidFill>
                <a:latin typeface="Segoe UI"/>
              </a:rPr>
              <a:t>5 · USER THẬT NÓI GÌ  ·  45″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63A54"/>
                </a:solidFill>
                <a:latin typeface="Segoe UI"/>
              </a:rPr>
              <a:t>Trích nguyên văn từ chatlog sản xuất — có mã nguồn kiểm chứng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60120" cy="40640"/>
          </a:xfrm>
          <a:prstGeom prst="rect">
            <a:avLst/>
          </a:prstGeom>
          <a:solidFill>
            <a:srgbClr val="5EB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23015" y="384048"/>
            <a:ext cx="457200" cy="457200"/>
          </a:xfrm>
          <a:prstGeom prst="ellipse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2184DF"/>
                </a:solidFill>
              </a:rPr>
              <a:t>5/6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7A12"/>
                </a:solidFill>
                <a:latin typeface="Segoe UI"/>
              </a:rPr>
              <a:t>⚠ Đây là log sản xuất thật, KHÔNG phải phiên validation quan sát trực tiếp — nhóm cần bổ sung ≥1 phiên test 10 phút trước demo.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1874519"/>
          </a:xfrm>
          <a:prstGeom prst="rect">
            <a:avLst/>
          </a:prstGeom>
          <a:solidFill>
            <a:srgbClr val="F7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84831"/>
            <a:ext cx="64008" cy="1874519"/>
          </a:xfrm>
          <a:prstGeom prst="rect">
            <a:avLst/>
          </a:prstGeom>
          <a:solidFill>
            <a:srgbClr val="218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2199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184DF"/>
                </a:solidFill>
                <a:latin typeface="Segoe UI"/>
              </a:rPr>
              <a:t>Học sinh · M0332 · C0018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05455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163A54"/>
                </a:solidFill>
                <a:latin typeface="Segoe UI"/>
              </a:rPr>
              <a:t>“tóm tắt toàn bộ slide sau đó đưa ra các ý chính”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72383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4C4C"/>
                </a:solidFill>
                <a:latin typeface="Segoe UI"/>
              </a:rPr>
              <a:t>AI Tutor (bản cũ) trả lời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46703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34762"/>
                </a:solidFill>
                <a:latin typeface="Segoe UI"/>
              </a:rPr>
              <a:t>“Rất tiếc, tôi không tìm thấy nội dung cụ thể... (citations = [])”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11064240" cy="1874519"/>
          </a:xfrm>
          <a:prstGeom prst="rect">
            <a:avLst/>
          </a:prstGeom>
          <a:solidFill>
            <a:srgbClr val="F7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64008" cy="1874519"/>
          </a:xfrm>
          <a:prstGeom prst="rect">
            <a:avLst/>
          </a:prstGeom>
          <a:solidFill>
            <a:srgbClr val="218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5196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184DF"/>
                </a:solidFill>
                <a:latin typeface="Segoe UI"/>
              </a:rPr>
              <a:t>Học sinh · M1807 · C0066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35424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163A54"/>
                </a:solidFill>
                <a:latin typeface="Segoe UI"/>
              </a:rPr>
              <a:t>“TÓm tắt tài liệu tôi xem nào”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0235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94C4C"/>
                </a:solidFill>
                <a:latin typeface="Segoe UI"/>
              </a:rPr>
              <a:t>AI Tutor (bản cũ) trả lời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34762"/>
                </a:solidFill>
                <a:latin typeface="Segoe UI"/>
              </a:rPr>
              <a:t>“Hệ thống hiện không thể tự động tổng hợp toàn bộ nội dung của tất cả các slide trong một lần.”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58097"/>
                </a:solidFill>
                <a:latin typeface="Segoe UI"/>
              </a:rPr>
              <a:t>Thay đổi đã làm dựa trên đó: pipeline retrieval mới trong repo này lấy bằng chứng trải đều toàn tài liệu thay vì bỏ cuộc sớm.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18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84DF"/>
                </a:solidFill>
                <a:latin typeface="Segoe UI"/>
              </a:rPr>
              <a:t>6 · NẾU CÓ THÊM 1 TUẦN  ·  30″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63A54"/>
                </a:solidFill>
                <a:latin typeface="Segoe UI"/>
              </a:rPr>
              <a:t>3 việc ưu tiên — đều trỏ về pain đã đo, không phải wishlist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60120" cy="40640"/>
          </a:xfrm>
          <a:prstGeom prst="rect">
            <a:avLst/>
          </a:prstGeom>
          <a:solidFill>
            <a:srgbClr val="5EB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23015" y="384048"/>
            <a:ext cx="457200" cy="457200"/>
          </a:xfrm>
          <a:prstGeom prst="ellipse">
            <a:avLst/>
          </a:prstGeom>
          <a:solidFill>
            <a:srgbClr val="EE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2184DF"/>
                </a:solidFill>
              </a:rPr>
              <a:t>6/6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500" b="1">
                <a:solidFill>
                  <a:srgbClr val="2184DF"/>
                </a:solidFill>
                <a:latin typeface="Segoe UI"/>
              </a:rPr>
              <a:t>•  </a:t>
            </a:r>
            <a:r>
              <a:rPr sz="1500" b="1">
                <a:solidFill>
                  <a:srgbClr val="234762"/>
                </a:solidFill>
                <a:latin typeface="Segoe UI"/>
              </a:rPr>
              <a:t>1. Đo lại trên dữ liệu thật —</a:t>
            </a:r>
            <a:r>
              <a:rPr sz="1500" b="0">
                <a:solidFill>
                  <a:srgbClr val="234762"/>
                </a:solidFill>
                <a:latin typeface="Segoe UI"/>
              </a:rPr>
              <a:t> chạy 130 câu hỏi “tóm tắt” thật từ chatlog qua pipeline mới, đo % cải thiện so với mốc 65,4% fail rate gốc.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500" b="1">
                <a:solidFill>
                  <a:srgbClr val="2184DF"/>
                </a:solidFill>
                <a:latin typeface="Segoe UI"/>
              </a:rPr>
              <a:t>•  </a:t>
            </a:r>
            <a:r>
              <a:rPr sz="1500" b="1">
                <a:solidFill>
                  <a:srgbClr val="234762"/>
                </a:solidFill>
                <a:latin typeface="Segoe UI"/>
              </a:rPr>
              <a:t>2. Multimodal RAG cho slide hình ảnh/sơ đồ —</a:t>
            </a:r>
            <a:r>
              <a:rPr sz="1500" b="0">
                <a:solidFill>
                  <a:srgbClr val="234762"/>
                </a:solidFill>
                <a:latin typeface="Segoe UI"/>
              </a:rPr>
              <a:t> pain #1 trong feedback mentor (tong-hop-feedback-ai-tutor.md §3.1), hiện chưa xử lý.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500" b="1">
                <a:solidFill>
                  <a:srgbClr val="2184DF"/>
                </a:solidFill>
                <a:latin typeface="Segoe UI"/>
              </a:rPr>
              <a:t>•  </a:t>
            </a:r>
            <a:r>
              <a:rPr sz="1500" b="1">
                <a:solidFill>
                  <a:srgbClr val="234762"/>
                </a:solidFill>
                <a:latin typeface="Segoe UI"/>
              </a:rPr>
              <a:t>3. Phiên validation quan sát trực tiếp —</a:t>
            </a:r>
            <a:r>
              <a:rPr sz="1500" b="0">
                <a:solidFill>
                  <a:srgbClr val="234762"/>
                </a:solidFill>
                <a:latin typeface="Segoe UI"/>
              </a:rPr>
              <a:t> ≥1 phiên 10 phút với người dùng thật, đúng quy trình §4.2 (hiện repo chưa có validation/).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solidFill>
            <a:srgbClr val="16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86460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EB7FB"/>
                </a:solidFill>
                <a:latin typeface="Segoe UI"/>
              </a:rPr>
              <a:t>Bài học lớn nhất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9379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1">
                <a:solidFill>
                  <a:srgbClr val="FFFFFF"/>
                </a:solidFill>
                <a:latin typeface="Segoe UI"/>
              </a:rPr>
              <a:t>Một dòng regex tưởng vô hại (lọc từ đệm “nội dung” khỏi câu hỏi) lại âm thầm xoá đúng cụm từ hệ thống dùng để nhận diện ý định — luôn viết test cho đường nhận diện ý định (intent), không chỉ đường dữ liệu (data).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